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QMT 系统介绍与高层架构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9966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DE7F6"/>
                </a:solidFill>
                <a:latin typeface="PingFang SC"/>
              </a:rPr>
              <a:t>基于代码现状的架构梳理</a:t>
            </a:r>
          </a:p>
          <a:p>
            <a:pPr algn="l"/>
            <a:r>
              <a:rPr sz="1500" b="0">
                <a:solidFill>
                  <a:srgbClr val="DDE7F6"/>
                </a:solidFill>
                <a:latin typeface="PingFang SC"/>
              </a:rPr>
              <a:t>覆盖数据、研究、监控、交易执行与 AI 决策五大域</a:t>
            </a:r>
          </a:p>
          <a:p>
            <a:pPr algn="l"/>
            <a:r>
              <a:rPr sz="1500" b="0">
                <a:solidFill>
                  <a:srgbClr val="DDE7F6"/>
                </a:solidFill>
                <a:latin typeface="PingFang SC"/>
              </a:rPr>
              <a:t>对外简称采用 QTS，代码目录当前仍为 qss/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1325880"/>
            <a:ext cx="2103120" cy="2743200"/>
          </a:xfrm>
          <a:prstGeom prst="roundRect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本次交付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1. Architecture 文档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2. 高层架构图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3. 系统介绍 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6F0"/>
                </a:solidFill>
                <a:latin typeface="PingFang SC"/>
              </a:rPr>
              <a:t>生成日期: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043"/>
                </a:solidFill>
                <a:latin typeface="PingFang SC"/>
              </a:rPr>
              <a:t>系统定位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PingFang SC"/>
              </a:rPr>
              <a:t>QMT 不是单体应用，而是面向量化工作流的多模块工作区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ingFang SC"/>
              </a:rPr>
              <a:t>统一数据底座: 屏蔽 QMT / AKShare / CSV / Sina 差异，向上提供一致接口。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ingFang SC"/>
              </a:rPr>
              <a:t>研究与回测: 为策略研发、参数试验、批量比较提供独立实验区。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ingFang SC"/>
              </a:rPr>
              <a:t>盘中监控: 实时观察状态变化，重点服务于提醒和跟踪，不直接等于下单。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ingFang SC"/>
              </a:rPr>
              <a:t>交易执行: 通过事件总线、风控和执行器把策略信号落到实盘或模拟环境。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ingFang SC"/>
              </a:rPr>
              <a:t>AI 决策增强: 将技术、基本面、情绪拆分建模，并沉淀金股池与历史记忆。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63040"/>
            <a:ext cx="2423160" cy="1600200"/>
          </a:xfrm>
          <a:prstGeom prst="roundRect">
            <a:avLst/>
          </a:prstGeom>
          <a:solidFill>
            <a:srgbClr val="B43535"/>
          </a:solidFill>
          <a:ln>
            <a:solidFill>
              <a:srgbClr val="B4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QTS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Quantitative Trading System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量化交易系统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SC"/>
              </a:rPr>
              <a:t>真正承担交易执行闭环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63040"/>
            <a:ext cx="2423160" cy="1600200"/>
          </a:xfrm>
          <a:prstGeom prst="roundRect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SPS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Strategy Push System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策略监控推送系统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SC"/>
              </a:rPr>
              <a:t>监控与推送，只推不交易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337560"/>
            <a:ext cx="2423160" cy="1600200"/>
          </a:xfrm>
          <a:prstGeom prst="round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TSS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Trading Strategy Search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交易策略搜索系统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SC"/>
              </a:rPr>
              <a:t>研究与回测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337560"/>
            <a:ext cx="2423160" cy="1600200"/>
          </a:xfrm>
          <a:prstGeom prst="roundRect">
            <a:avLst/>
          </a:prstGeom>
          <a:solidFill>
            <a:srgbClr val="C98414"/>
          </a:solidFill>
          <a:ln>
            <a:solidFill>
              <a:srgbClr val="C9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ITS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Investment Target Selection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投资标的选择系统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SC"/>
              </a:rPr>
              <a:t>筛选与评审，不直接下单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043"/>
                </a:solidFill>
                <a:latin typeface="PingFang SC"/>
              </a:rPr>
              <a:t>模块版图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PingFang SC"/>
              </a:rPr>
              <a:t>按代码职责划分的五大业务域与一个运维域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828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qdata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统一数据模型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多数据源适配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SQLite 缓存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异步并发获取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325880"/>
            <a:ext cx="1920240" cy="2194560"/>
          </a:xfrm>
          <a:prstGeom prst="roundRect">
            <a:avLst/>
          </a:prstGeom>
          <a:solidFill>
            <a:srgbClr val="B43535"/>
          </a:solidFill>
          <a:ln>
            <a:solidFill>
              <a:srgbClr val="B4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QTS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Quantitative Trading System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量化交易系统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SC"/>
              </a:rPr>
              <a:t>交易执行主系统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25880"/>
            <a:ext cx="1920240" cy="2194560"/>
          </a:xfrm>
          <a:prstGeom prst="roundRect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SPS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Strategy Push System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策略监控推送系统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SC"/>
              </a:rPr>
              <a:t>监控推送，只推不交易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325880"/>
            <a:ext cx="1920240" cy="2194560"/>
          </a:xfrm>
          <a:prstGeom prst="round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TSS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Trading Strategy Search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交易策略搜索系统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SC"/>
              </a:rPr>
              <a:t>策略搜索与回测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325880"/>
            <a:ext cx="1920240" cy="2194560"/>
          </a:xfrm>
          <a:prstGeom prst="roundRect">
            <a:avLst/>
          </a:prstGeom>
          <a:solidFill>
            <a:srgbClr val="C98414"/>
          </a:solidFill>
          <a:ln>
            <a:solidFill>
              <a:srgbClr val="C9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PingFang SC"/>
              </a:rPr>
              <a:t>ITS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Investment Target Selection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PingFang SC"/>
              </a:rPr>
              <a:t>投资标的选择系统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ingFang SC"/>
              </a:rPr>
              <a:t>筛选与评审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44200" y="1325880"/>
            <a:ext cx="914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scripts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调度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夜间任务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运行编排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PingFang SC"/>
              </a:rPr>
              <a:t>核心关系: qdata 提供共享基础设施，qss 承担在线运行主干，sps / tss / its 提供观察、研究和智能增强能力。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1097280" y="4709160"/>
            <a:ext cx="1920240" cy="594360"/>
          </a:xfrm>
          <a:prstGeom prst="chevron">
            <a:avLst/>
          </a:prstGeom>
          <a:solidFill>
            <a:srgbClr val="102043"/>
          </a:solidFill>
          <a:ln>
            <a:solidFill>
              <a:srgbClr val="10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数据接入与缓存</a:t>
            </a:r>
          </a:p>
        </p:txBody>
      </p:sp>
      <p:sp>
        <p:nvSpPr>
          <p:cNvPr id="12" name="Chevron 11"/>
          <p:cNvSpPr/>
          <p:nvPr/>
        </p:nvSpPr>
        <p:spPr>
          <a:xfrm>
            <a:off x="3154680" y="4709160"/>
            <a:ext cx="1920240" cy="594360"/>
          </a:xfrm>
          <a:prstGeom prst="chevron">
            <a:avLst/>
          </a:prstGeom>
          <a:solidFill>
            <a:srgbClr val="B43535"/>
          </a:solidFill>
          <a:ln>
            <a:solidFill>
              <a:srgbClr val="B4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事件驱动执行</a:t>
            </a:r>
          </a:p>
        </p:txBody>
      </p:sp>
      <p:sp>
        <p:nvSpPr>
          <p:cNvPr id="13" name="Chevron 12"/>
          <p:cNvSpPr/>
          <p:nvPr/>
        </p:nvSpPr>
        <p:spPr>
          <a:xfrm>
            <a:off x="5212080" y="4709160"/>
            <a:ext cx="1920240" cy="594360"/>
          </a:xfrm>
          <a:prstGeom prst="chevron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盘中监控反馈</a:t>
            </a:r>
          </a:p>
        </p:txBody>
      </p:sp>
      <p:sp>
        <p:nvSpPr>
          <p:cNvPr id="14" name="Chevron 13"/>
          <p:cNvSpPr/>
          <p:nvPr/>
        </p:nvSpPr>
        <p:spPr>
          <a:xfrm>
            <a:off x="7269480" y="4709160"/>
            <a:ext cx="1920240" cy="594360"/>
          </a:xfrm>
          <a:prstGeom prst="chevron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策略研究迭代</a:t>
            </a:r>
          </a:p>
        </p:txBody>
      </p:sp>
      <p:sp>
        <p:nvSpPr>
          <p:cNvPr id="15" name="Chevron 14"/>
          <p:cNvSpPr/>
          <p:nvPr/>
        </p:nvSpPr>
        <p:spPr>
          <a:xfrm>
            <a:off x="9326880" y="4709160"/>
            <a:ext cx="1920240" cy="594360"/>
          </a:xfrm>
          <a:prstGeom prst="chevron">
            <a:avLst/>
          </a:prstGeom>
          <a:solidFill>
            <a:srgbClr val="C98414"/>
          </a:solidFill>
          <a:ln>
            <a:solidFill>
              <a:srgbClr val="C9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AI 决策增强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043"/>
                </a:solidFill>
                <a:latin typeface="PingFang SC"/>
              </a:rPr>
              <a:t>高层架构图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PingFang SC"/>
              </a:rPr>
              <a:t>当前代码结构对应的主干链路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1828800" cy="1417320"/>
          </a:xfrm>
          <a:prstGeom prst="roundRect">
            <a:avLst/>
          </a:prstGeom>
          <a:solidFill>
            <a:srgbClr val="102043"/>
          </a:solidFill>
          <a:ln>
            <a:solidFill>
              <a:srgbClr val="10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Config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base.yaml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accounts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strategies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554480"/>
            <a:ext cx="2057400" cy="1417320"/>
          </a:xfrm>
          <a:prstGeom prst="round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Data Layer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qdata service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adapters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BarStore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234440"/>
            <a:ext cx="2514600" cy="2057400"/>
          </a:xfrm>
          <a:prstGeom prst="roundRect">
            <a:avLst/>
          </a:prstGeom>
          <a:solidFill>
            <a:srgbClr val="B43535"/>
          </a:solidFill>
          <a:ln>
            <a:solidFill>
              <a:srgbClr val="B4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QTS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Quantitative Trading System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DataFeed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EventBus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Risk + Executor +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1691640" cy="2057400"/>
          </a:xfrm>
          <a:prstGeom prst="roundRect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SPS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Strategy Push System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QuoteFetcher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Vector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234440"/>
            <a:ext cx="1691640" cy="2057400"/>
          </a:xfrm>
          <a:prstGeom prst="roundRect">
            <a:avLst/>
          </a:prstGeom>
          <a:solidFill>
            <a:srgbClr val="C98414"/>
          </a:solidFill>
          <a:ln>
            <a:solidFill>
              <a:srgbClr val="C9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TSS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Trading Strategy Search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vn.py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886200"/>
            <a:ext cx="2286000" cy="1554480"/>
          </a:xfrm>
          <a:prstGeom prst="roundRect">
            <a:avLst/>
          </a:prstGeom>
          <a:solidFill>
            <a:srgbClr val="102043"/>
          </a:solidFill>
          <a:ln>
            <a:solidFill>
              <a:srgbClr val="10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ITS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Investment Target Selection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Debate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Memory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Golden 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886200"/>
            <a:ext cx="2011680" cy="15544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Ops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scheduler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nightly jobs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114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PingFang SC"/>
              </a:rPr>
              <a:t>Feishu /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240280"/>
            <a:ext cx="32004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2240280"/>
            <a:ext cx="45720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2240280"/>
            <a:ext cx="36576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35240" y="2468880"/>
            <a:ext cx="228600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3291840"/>
            <a:ext cx="320040" cy="59436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49840" y="3291840"/>
            <a:ext cx="0" cy="59436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043"/>
                </a:solidFill>
                <a:latin typeface="PingFang SC"/>
              </a:rPr>
              <a:t>模块关系总表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PingFang SC"/>
              </a:rPr>
              <a:t>给老板和新同事快速看懂: 谁负责什么、谁依赖谁、谁不该做什么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7432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QTS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Quantitative Trading System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定位: 交易执行主系统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负责: 策略执行 / 风控 / 订单成交 / API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边界: 真正承担交易闭环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417320"/>
            <a:ext cx="27432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SPS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Strategy Push System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定位: 监控推送系统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负责: 盘中观察 / 状态提醒 / 消息推送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边界: 只推不交易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17320"/>
            <a:ext cx="27432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TSS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Trading Strategy Search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定位: 策略搜索与回测系统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负责: 研究 / 回测 / 比较 / 验证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边界: 不承担在线执行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1417320"/>
            <a:ext cx="2103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ITS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Investment Target Selection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定位: 标的筛选与评审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负责: 候选池 / 评审 / 记忆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边界: 看和评，不直接做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2043"/>
                </a:solidFill>
                <a:latin typeface="PingFang SC"/>
              </a:rPr>
              <a:t>依赖关系</a:t>
            </a:r>
          </a:p>
        </p:txBody>
      </p:sp>
      <p:sp>
        <p:nvSpPr>
          <p:cNvPr id="9" name="Chevron 8"/>
          <p:cNvSpPr/>
          <p:nvPr/>
        </p:nvSpPr>
        <p:spPr>
          <a:xfrm>
            <a:off x="731520" y="4297680"/>
            <a:ext cx="2011680" cy="685800"/>
          </a:xfrm>
          <a:prstGeom prst="chevron">
            <a:avLst/>
          </a:prstGeom>
          <a:solidFill>
            <a:srgbClr val="102043"/>
          </a:solidFill>
          <a:ln>
            <a:solidFill>
              <a:srgbClr val="10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qdata</a:t>
            </a:r>
          </a:p>
        </p:txBody>
      </p:sp>
      <p:sp>
        <p:nvSpPr>
          <p:cNvPr id="10" name="Chevron 9"/>
          <p:cNvSpPr/>
          <p:nvPr/>
        </p:nvSpPr>
        <p:spPr>
          <a:xfrm>
            <a:off x="2880360" y="4297680"/>
            <a:ext cx="2011680" cy="685800"/>
          </a:xfrm>
          <a:prstGeom prst="chevron">
            <a:avLst/>
          </a:prstGeom>
          <a:solidFill>
            <a:srgbClr val="C98414"/>
          </a:solidFill>
          <a:ln>
            <a:solidFill>
              <a:srgbClr val="C9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ITS / TSS</a:t>
            </a:r>
          </a:p>
        </p:txBody>
      </p:sp>
      <p:sp>
        <p:nvSpPr>
          <p:cNvPr id="11" name="Chevron 10"/>
          <p:cNvSpPr/>
          <p:nvPr/>
        </p:nvSpPr>
        <p:spPr>
          <a:xfrm>
            <a:off x="5029200" y="4297680"/>
            <a:ext cx="2011680" cy="685800"/>
          </a:xfrm>
          <a:prstGeom prst="chevron">
            <a:avLst/>
          </a:prstGeom>
          <a:solidFill>
            <a:srgbClr val="B43535"/>
          </a:solidFill>
          <a:ln>
            <a:solidFill>
              <a:srgbClr val="B4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QTS</a:t>
            </a:r>
          </a:p>
        </p:txBody>
      </p:sp>
      <p:sp>
        <p:nvSpPr>
          <p:cNvPr id="12" name="Chevron 11"/>
          <p:cNvSpPr/>
          <p:nvPr/>
        </p:nvSpPr>
        <p:spPr>
          <a:xfrm>
            <a:off x="7178040" y="4297680"/>
            <a:ext cx="2011680" cy="685800"/>
          </a:xfrm>
          <a:prstGeom prst="chevron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57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PingFang SC"/>
              </a:rPr>
              <a:t>一句话理解:\nqdata 提供数据底座，ITS 负责挑标的，TSS 负责试策略，QTS 负责真执行，SPS 负责把结果推出来。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043"/>
                </a:solidFill>
                <a:latin typeface="PingFang SC"/>
              </a:rPr>
              <a:t>核心业务流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PingFang SC"/>
              </a:rPr>
              <a:t>QMT 代码里最关键的四条端到端流程</a:t>
            </a:r>
          </a:p>
        </p:txBody>
      </p:sp>
      <p:sp>
        <p:nvSpPr>
          <p:cNvPr id="4" name="Chevron 3"/>
          <p:cNvSpPr/>
          <p:nvPr/>
        </p:nvSpPr>
        <p:spPr>
          <a:xfrm>
            <a:off x="685800" y="1554480"/>
            <a:ext cx="2331720" cy="640080"/>
          </a:xfrm>
          <a:prstGeom prst="chevron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1. 研究回测流</a:t>
            </a:r>
          </a:p>
        </p:txBody>
      </p:sp>
      <p:sp>
        <p:nvSpPr>
          <p:cNvPr id="5" name="Chevron 4"/>
          <p:cNvSpPr/>
          <p:nvPr/>
        </p:nvSpPr>
        <p:spPr>
          <a:xfrm>
            <a:off x="3200400" y="1554480"/>
            <a:ext cx="2331720" cy="640080"/>
          </a:xfrm>
          <a:prstGeom prst="chevron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2. 盘中监控流</a:t>
            </a:r>
          </a:p>
        </p:txBody>
      </p:sp>
      <p:sp>
        <p:nvSpPr>
          <p:cNvPr id="6" name="Chevron 5"/>
          <p:cNvSpPr/>
          <p:nvPr/>
        </p:nvSpPr>
        <p:spPr>
          <a:xfrm>
            <a:off x="5715000" y="1554480"/>
            <a:ext cx="2331720" cy="640080"/>
          </a:xfrm>
          <a:prstGeom prst="chevron">
            <a:avLst/>
          </a:prstGeom>
          <a:solidFill>
            <a:srgbClr val="B43535"/>
          </a:solidFill>
          <a:ln>
            <a:solidFill>
              <a:srgbClr val="B4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3. 交易执行流</a:t>
            </a:r>
          </a:p>
        </p:txBody>
      </p:sp>
      <p:sp>
        <p:nvSpPr>
          <p:cNvPr id="7" name="Chevron 6"/>
          <p:cNvSpPr/>
          <p:nvPr/>
        </p:nvSpPr>
        <p:spPr>
          <a:xfrm>
            <a:off x="8229600" y="1554480"/>
            <a:ext cx="2651760" cy="640080"/>
          </a:xfrm>
          <a:prstGeom prst="chevron">
            <a:avLst/>
          </a:prstGeom>
          <a:solidFill>
            <a:srgbClr val="C98414"/>
          </a:solidFill>
          <a:ln>
            <a:solidFill>
              <a:srgbClr val="C9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4. AI 候选流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2331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研究回测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config 读取池子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qdata 加载历史数据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tss/vn.py 运行回测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输出 report / 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423160"/>
            <a:ext cx="2331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盘中监控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watchlist 装载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QMT 或 Sina 拉取实时行情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vector_engine 计算状态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告警 / 快照缓存输出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423160"/>
            <a:ext cx="2331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交易执行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策略发布 TradeSignal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SignalProcessor + RiskManager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Executor 下单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API / Notification 消费事件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4231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AI 候选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ContextBuilder 组装三维上下文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DebateEngine 多角色辩论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MemoryStore 落库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GoldenPool 输出候选池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043"/>
                </a:solidFill>
                <a:latin typeface="PingFang SC"/>
              </a:rPr>
              <a:t>部署视图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PingFang SC"/>
              </a:rPr>
              <a:t>当前能力与推荐拓扑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57800" cy="2743200"/>
          </a:xfrm>
          <a:prstGeom prst="round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当前可运行模式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Mac / Linux: qdata, sps, tss, its, qss(模拟执行) 可运行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Windows + QMT: xtdata + QMTExecutor 进入接近实盘形态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同一仓库同时覆盖研究、监控、执行、AI 四种任务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2743200"/>
          </a:xfrm>
          <a:prstGeom prst="roundRect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推荐目标模式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策略与研究侧: Mac / Linux 运行 qdata + tss + sps + its + qss 逻辑层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执行侧: Windows + QMT 运行 RemoteExecutorServer + QMTExecutor</a:t>
            </a:r>
          </a:p>
          <a:p>
            <a:pPr/>
            <a:r>
              <a:rPr sz="1200" b="0">
                <a:solidFill>
                  <a:srgbClr val="FFFFFF"/>
                </a:solidFill>
                <a:latin typeface="PingFang SC"/>
              </a:rPr>
              <a:t>通过轻量 RPC 连接，降低策略环境对 Windows 的强绑定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PingFang SC"/>
              </a:rPr>
              <a:t>代码中已经有 RemoteExecutor 的雏形，这意味着系统的演进方向并不是“全部塞进一台机器”，而是逐步拆成策略侧与执行侧。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043"/>
                </a:solidFill>
                <a:latin typeface="PingFang SC"/>
              </a:rPr>
              <a:t>架构优势与风险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PingFang SC"/>
              </a:rPr>
              <a:t>这份代码库已经有平台感，但还需要进一步收敛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优势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统一数据层已经成型，是全仓库复用的共享底座。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交易执行层采用 EventBus + Executor 抽象，具备解耦基础。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AI 决策层不是简单聊天接口，而是带隔离策略和记忆闭环。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研究、监控、执行三条业务链已经能并行演进。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2043"/>
                </a:solidFill>
                <a:latin typeface="PingFang SC"/>
              </a:rPr>
              <a:t>风险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旧文档命名与实际目录漂移，容易影响沟通一致性。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sys.path 注入和隐式导入仍较多，包边界没有完全硬化。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可选依赖较多，不同机器上的可运行能力不一致。</a:t>
            </a:r>
          </a:p>
          <a:p>
            <a:r>
              <a:rPr sz="1150" b="0">
                <a:solidFill>
                  <a:srgbClr val="1F2937"/>
                </a:solidFill>
                <a:latin typeface="PingFang SC"/>
              </a:rPr>
              <a:t>its -&gt; qss 仍偏弱耦合，候选池尚未彻底进入主运行闭环。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043"/>
                </a:solidFill>
                <a:latin typeface="PingFang SC"/>
              </a:rPr>
              <a:t>建议路线图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PingFang SC"/>
              </a:rPr>
              <a:t>优先做平台收敛，而不是继续堆叠局部脚本</a:t>
            </a:r>
          </a:p>
        </p:txBody>
      </p:sp>
      <p:sp>
        <p:nvSpPr>
          <p:cNvPr id="4" name="Chevron 3"/>
          <p:cNvSpPr/>
          <p:nvPr/>
        </p:nvSpPr>
        <p:spPr>
          <a:xfrm>
            <a:off x="685800" y="1828800"/>
            <a:ext cx="2377440" cy="731520"/>
          </a:xfrm>
          <a:prstGeom prst="chevron">
            <a:avLst/>
          </a:prstGeom>
          <a:solidFill>
            <a:srgbClr val="102043"/>
          </a:solidFill>
          <a:ln>
            <a:solidFill>
              <a:srgbClr val="10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阶段 1
统一命名与文档</a:t>
            </a:r>
          </a:p>
        </p:txBody>
      </p:sp>
      <p:sp>
        <p:nvSpPr>
          <p:cNvPr id="5" name="Chevron 4"/>
          <p:cNvSpPr/>
          <p:nvPr/>
        </p:nvSpPr>
        <p:spPr>
          <a:xfrm>
            <a:off x="3154680" y="1828800"/>
            <a:ext cx="2377440" cy="731520"/>
          </a:xfrm>
          <a:prstGeom prst="chevron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阶段 2
固化包边界</a:t>
            </a:r>
          </a:p>
        </p:txBody>
      </p:sp>
      <p:sp>
        <p:nvSpPr>
          <p:cNvPr id="6" name="Chevron 5"/>
          <p:cNvSpPr/>
          <p:nvPr/>
        </p:nvSpPr>
        <p:spPr>
          <a:xfrm>
            <a:off x="5623560" y="1828800"/>
            <a:ext cx="2377440" cy="731520"/>
          </a:xfrm>
          <a:prstGeom prst="chevron">
            <a:avLst/>
          </a:prstGeom>
          <a:solidFill>
            <a:srgbClr val="1A7F72"/>
          </a:solidFill>
          <a:ln>
            <a:solidFill>
              <a:srgbClr val="1A7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阶段 3
统一事件契约</a:t>
            </a:r>
          </a:p>
        </p:txBody>
      </p:sp>
      <p:sp>
        <p:nvSpPr>
          <p:cNvPr id="7" name="Chevron 6"/>
          <p:cNvSpPr/>
          <p:nvPr/>
        </p:nvSpPr>
        <p:spPr>
          <a:xfrm>
            <a:off x="8092440" y="1828800"/>
            <a:ext cx="2377440" cy="731520"/>
          </a:xfrm>
          <a:prstGeom prst="chevron">
            <a:avLst/>
          </a:prstGeom>
          <a:solidFill>
            <a:srgbClr val="C98414"/>
          </a:solidFill>
          <a:ln>
            <a:solidFill>
              <a:srgbClr val="C9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阶段 4
拆分执行侧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PingFang SC"/>
              </a:rPr>
              <a:t>推荐优先级: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PingFang SC"/>
              </a:rPr>
              <a:t>1. 用新的模块命名替换旧文档与旧图。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PingFang SC"/>
              </a:rPr>
              <a:t>2. 逐步减少 sys.path 注入，把跨模块调用收敛到稳定接口。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PingFang SC"/>
              </a:rPr>
              <a:t>3. 统一 Signal / GoldenPool / ResearchResult 等数据契约。</a:t>
            </a:r>
          </a:p>
          <a:p>
            <a:pPr algn="l"/>
            <a:r>
              <a:rPr sz="1500" b="0">
                <a:solidFill>
                  <a:srgbClr val="1F2937"/>
                </a:solidFill>
                <a:latin typeface="PingFang SC"/>
              </a:rPr>
              <a:t>4. 让 RemoteExecutor 成为正式部署路径。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2043"/>
                </a:solidFill>
                <a:latin typeface="PingFang SC"/>
              </a:rPr>
              <a:t>结论: QMT 已经具备量化平台雏形，下一阶段的核心任务是“架构收敛”。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